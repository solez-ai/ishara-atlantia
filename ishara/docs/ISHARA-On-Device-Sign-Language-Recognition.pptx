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Ancizar Sans Bold"/>
      <p:bold r:id="rId14"/>
    </p:embeddedFont>
    <p:embeddedFont>
      <p:font typeface="Reddit Mono Medium"/>
    </p:embeddedFont>
    <p:embeddedFont>
      <p:font typeface="Gilda Display"/>
      <p:regular r:id="rId15"/>
    </p:embeddedFont>
    <p:embeddedFont>
      <p:font typeface="Ancizar Sans Medium"/>
    </p:embeddedFont>
    <p:embeddedFont>
      <p:font typeface="Ancizar Sans"/>
      <p:regular r:id="rId16"/>
    </p:embeddedFont>
    <p:embeddedFont>
      <p:font typeface="Ancizar Sans SemiBold"/>
    </p:embeddedFont>
    <p:embeddedFont>
      <p:font typeface="Reddit Mono"/>
      <p:regular r:id="rId17"/>
    </p:embeddedFont>
    <p:embeddedFont>
      <p:font typeface="+mn-lt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Ancizar_Sans_Bold_Bold.fntdata"/><Relationship Id="rId15" Type="http://schemas.openxmlformats.org/officeDocument/2006/relationships/font" Target="fonts/Font_2_Gilda_Display_Regular.fntdata"/><Relationship Id="rId16" Type="http://schemas.openxmlformats.org/officeDocument/2006/relationships/font" Target="fonts/Font_3_Ancizar_Sans_Regular.fntdata"/><Relationship Id="rId17" Type="http://schemas.openxmlformats.org/officeDocument/2006/relationships/font" Target="fonts/Font_4_Reddit_Mono_Regular.fntdata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3BD8C6D-4620-49B8-9DB6-7AE32D2A026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ISHARA: an on-device, lightweight computer vision framework designed by an 8th-grade student to make sign language recognition accessible on low-cost hardware without cloud dependence.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85772B-2E6A-443B-A52D-F1C661248B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the codebase is completely open source under the MIT license and that documentation is live at ishara.mintlify.site.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9DA02F-318A-4DD0-BECA-60F6448A0E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 that the problem is not just algorithmic: cloud-based sign language models invade user privacy and fail in regions with intermittent electricity and poor internet bandwidth.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74B1C6-5424-4FDE-8F61-CEEBC9AAF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how replacing an end-to-end 3D CNN with geometric coordinate feature engineering drastically reduces model weights by three orders of magnitude while preserving movement context.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0749C3-FF41-4F01-960A-95DEB98D75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the strict engineering mapping: every constraint led directly to a deliberate architectural simplification rather than an unguided trial of standard deep networks.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8E2EAB-A3A2-4E6A-A76F-C4C2D5F526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144D structure: 63 coordinates for left hand, 63 for right hand, and 18 for upper-body posture, forming a clean 4,320D flattened temporal block per word gesture.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786506-158D-4BB6-B75A-55962D0E08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the strict protocol: each session took place on different days under varied illumination. Holding out entire sessions guarantees that background or lighting artifacts cannot artificially inflate accuracy.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5E1516-B7D8-4DE0-B325-4449039426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the slight 2-3% difference in raw benchmark score translates to the ability to run on a $35 computer rather than a $1,000 GPU rig, fundamentally changing accessibility.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9644D4-EF51-4C34-B3A0-BB2380EEE0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 the cross-signer metric: 87.5% on an individual who never contributed training samples proves the geometric normalization removes signer-specific physical biases.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8B47A8-71A2-4662-902C-821A457FBE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on scientific honesty: state clearly that the primary benchmark used synthetic data and 2 signers, and that the next stage will involve real-world testing with diverse Deaf community signers.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60FF79-3FF3-4315-93AF-B0DD57F12E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112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bg>
      <p:bgPr>
        <a:solidFill>
          <a:srgbClr val="FBE6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sheditzofficial918@gmail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660240" y="1171440"/>
            <a:ext cx="62478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5200" b="0" u="none" spc="-51" strike="noStrike">
                <a:solidFill>
                  <a:srgbClr val="FFFFFF"/>
                </a:solidFill>
                <a:effectLst/>
                <a:uFillTx/>
                <a:latin typeface="Gilda Display"/>
                <a:ea typeface="Gilda Display"/>
              </a:rPr>
              <a:t>ISHARA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60240" y="2026800"/>
            <a:ext cx="6247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400" b="0" u="none" spc="-23" strike="noStrike">
                <a:solidFill>
                  <a:srgbClr val="FBE6A0"/>
                </a:solidFill>
                <a:effectLst/>
                <a:uFillTx/>
                <a:latin typeface="Gilda Display"/>
                <a:ea typeface="Gilda Display"/>
              </a:rPr>
              <a:t>On-Device Sign Language Recognition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60240" y="2524680"/>
            <a:ext cx="6857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F48067"/>
                </a:solidFill>
                <a:effectLst/>
                <a:uFillTx/>
                <a:latin typeface="Reddit Mono Medium"/>
                <a:ea typeface="Reddit Mono Medium"/>
              </a:rPr>
              <a:t>AI &amp; MACHINE LEARNING · COMPUTER VISION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60240" y="2872440"/>
            <a:ext cx="624780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BE6A0"/>
                </a:solidFill>
                <a:effectLst/>
                <a:uFillTx/>
                <a:latin typeface="Ancizar Sans Bold"/>
                <a:ea typeface="Ancizar Sans Bold"/>
              </a:rPr>
              <a:t>Team:</a:t>
            </a:r>
            <a:r>
              <a:rPr lang="en-US" sz="1800" b="0" u="none" strike="noStrike">
                <a:solidFill>
                  <a:srgbClr val="FBE6A0"/>
                </a:solidFill>
                <a:effectLst/>
                <a:uFillTx/>
                <a:latin typeface="Ancizar Sans"/>
                <a:ea typeface="Ancizar Sans"/>
              </a:rPr>
              <a:t> Samin Yeasar · Class 8 (Grade 8)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BE6A0"/>
                </a:solidFill>
                <a:effectLst/>
                <a:uFillTx/>
                <a:latin typeface="Ancizar Sans Bold"/>
                <a:ea typeface="Ancizar Sans Bold"/>
              </a:rPr>
              <a:t>Institution:</a:t>
            </a:r>
            <a:r>
              <a:rPr lang="en-US" sz="1800" b="0" u="none" strike="noStrike">
                <a:solidFill>
                  <a:srgbClr val="FBE6A0"/>
                </a:solidFill>
                <a:effectLst/>
                <a:uFillTx/>
                <a:latin typeface="Ancizar Sans"/>
                <a:ea typeface="Ancizar Sans"/>
              </a:rPr>
              <a:t> Birshreshtha Munshi Abdur Rouf Public College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BE6A0"/>
                </a:solidFill>
                <a:effectLst/>
                <a:uFillTx/>
                <a:latin typeface="Ancizar Sans Bold"/>
                <a:ea typeface="Ancizar Sans Bold"/>
              </a:rPr>
              <a:t>Email:</a:t>
            </a:r>
            <a:r>
              <a:rPr lang="en-US" sz="1800" b="0" u="none" strike="noStrike">
                <a:solidFill>
                  <a:srgbClr val="FBE6A0"/>
                </a:solidFill>
                <a:effectLst/>
                <a:uFillTx/>
                <a:latin typeface="Ancizar Sans"/>
                <a:ea typeface="Ancizar Sans"/>
              </a:rPr>
              <a:t> </a:t>
            </a:r>
            <a:r>
              <a:rPr lang="en-US" sz="1800" b="1" u="sng" strike="noStrike">
                <a:solidFill>
                  <a:srgbClr val="FBE6A0"/>
                </a:solidFill>
                <a:effectLst/>
                <a:uFillTx/>
                <a:latin typeface="Ancizar Sans Bold"/>
                <a:ea typeface="Ancizar Sans Bold"/>
                <a:hlinkClick r:id="rId1"/>
              </a:rPr>
              <a:t>sheditzofficial918@gmail.com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BE6A0"/>
                </a:solidFill>
                <a:effectLst/>
                <a:uFillTx/>
                <a:latin typeface="Ancizar Sans Bold"/>
                <a:ea typeface="Ancizar Sans Bold"/>
              </a:rPr>
              <a:t>Repository:</a:t>
            </a:r>
            <a:r>
              <a:rPr lang="en-US" sz="1800" b="0" u="none" strike="noStrike">
                <a:solidFill>
                  <a:srgbClr val="FBE6A0"/>
                </a:solidFill>
                <a:effectLst/>
                <a:uFillTx/>
                <a:latin typeface="Ancizar Sans"/>
                <a:ea typeface="Ancizar Sans"/>
              </a:rPr>
              <a:t> github.com/Solez-ai/ishara-atlantia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660240" y="5969160"/>
            <a:ext cx="4869360" cy="332280"/>
          </a:xfrm>
          <a:prstGeom prst="rect">
            <a:avLst/>
          </a:prstGeom>
          <a:noFill/>
          <a:ln w="6350">
            <a:solidFill>
              <a:srgbClr val="FBE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806400" y="6055560"/>
            <a:ext cx="51868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FBE6A0"/>
                </a:solidFill>
                <a:effectLst/>
                <a:uFillTx/>
                <a:latin typeface="Reddit Mono Medium"/>
                <a:ea typeface="Reddit Mono Medium"/>
              </a:rPr>
              <a:t>SUBMISSION · CLASS 8 · OPEN-SOURCE AI · MIT LICENSE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7960" y="461160"/>
            <a:ext cx="7619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COMPETITION PROFILE &amp; CREDITS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07960" y="724680"/>
            <a:ext cx="7111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800" b="0" u="none" spc="-37" strike="noStrike">
                <a:solidFill>
                  <a:srgbClr val="112F2C"/>
                </a:solidFill>
                <a:effectLst/>
                <a:uFillTx/>
                <a:latin typeface="Gilda Display"/>
                <a:ea typeface="Gilda Display"/>
              </a:rPr>
              <a:t>Who is behind ISHARA and where it competes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07960" y="1876680"/>
            <a:ext cx="711144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A solo research and engineering project built from Dhaka, Bangladesh, tackling accessibility barriers through efficient edge machine learning.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507960" y="270540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798840" y="27939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332000" y="2656440"/>
            <a:ext cx="62874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Participant &amp; Grade Category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332000" y="3079800"/>
            <a:ext cx="62874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Samin Yeasar, solo researcher and developer · Category: Class 8 (Grade 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507960" y="352188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798840" y="361080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1332000" y="3472920"/>
            <a:ext cx="62874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Institution &amp; Segment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1332000" y="3896280"/>
            <a:ext cx="62874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Birshreshtha Munshi Abdur Rouf Public College · AI &amp; Machine Learning (Computer Vision)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07960" y="433836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798840" y="442728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332000" y="4289760"/>
            <a:ext cx="62874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Open Source Codebase &amp; Web Documentation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332000" y="4712760"/>
            <a:ext cx="62874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github.com/Solez-ai/ishara-atlantia (MIT Licensed) · Documentation: ishara.mintlify.site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507960" y="515484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798840" y="52437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1332000" y="5106240"/>
            <a:ext cx="62874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Direct Contact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1332000" y="5529240"/>
            <a:ext cx="62874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sheditzofficial918@gmail.com · Fully reproducible pipeline with public verification seeds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507960" y="6068160"/>
            <a:ext cx="388188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654120" y="6154560"/>
            <a:ext cx="4199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RECORD 01 · OFFICIAL ENTRY SPECIFICATION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8127720" y="0"/>
            <a:ext cx="40636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21"/>
          <p:cNvSpPr/>
          <p:nvPr/>
        </p:nvSpPr>
        <p:spPr>
          <a:xfrm>
            <a:off x="507960" y="3388680"/>
            <a:ext cx="711144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507960" y="4205520"/>
            <a:ext cx="711144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507960" y="5022000"/>
            <a:ext cx="711144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08520"/>
            <a:ext cx="72637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PROBLEM STATEMENT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572400"/>
            <a:ext cx="68065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800" b="0" u="none" spc="-37" strike="noStrike">
                <a:solidFill>
                  <a:srgbClr val="112F2C"/>
                </a:solidFill>
                <a:effectLst/>
                <a:uFillTx/>
                <a:latin typeface="Gilda Display"/>
                <a:ea typeface="Gilda Display"/>
              </a:rPr>
              <a:t>Deaf communities are locked out of digital systems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184068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747720" y="192924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281240" y="1800360"/>
            <a:ext cx="598248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Sign language is the natural language of Deaf communities, yet most digital systems do not understand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288684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47720" y="29757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1281240" y="2846880"/>
            <a:ext cx="598248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Deep learning recognizers need 15+ MB models, GPUs or cloud servers, which underserved regions like South Asia and Africa often lack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457200" y="393336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47720" y="402192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1281240" y="3893400"/>
            <a:ext cx="598248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Cloud recognition sends video of a person's body and hands off their device, a privacy risk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57200" y="497952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747720" y="506844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1281240" y="4939560"/>
            <a:ext cx="59824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Over 300 sign languages exist, and most have no tools at all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457200" y="5418360"/>
            <a:ext cx="388188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603360" y="5504760"/>
            <a:ext cx="4199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02 · SYSTEMIC EXCLUSION FACTORS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7721280" y="0"/>
            <a:ext cx="4469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Shape 16"/>
          <p:cNvSpPr/>
          <p:nvPr/>
        </p:nvSpPr>
        <p:spPr>
          <a:xfrm>
            <a:off x="457200" y="2611800"/>
            <a:ext cx="680652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7"/>
          <p:cNvSpPr/>
          <p:nvPr/>
        </p:nvSpPr>
        <p:spPr>
          <a:xfrm>
            <a:off x="457200" y="3658320"/>
            <a:ext cx="680652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8"/>
          <p:cNvSpPr/>
          <p:nvPr/>
        </p:nvSpPr>
        <p:spPr>
          <a:xfrm>
            <a:off x="457200" y="4704480"/>
            <a:ext cx="680652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558720" y="410400"/>
            <a:ext cx="11632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PROJECT HYPOTHESIS &amp; CORE IDEA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58720" y="673920"/>
            <a:ext cx="11073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800" b="0" u="none" spc="-37" strike="noStrike">
                <a:solidFill>
                  <a:srgbClr val="112F2C"/>
                </a:solidFill>
                <a:effectLst/>
                <a:uFillTx/>
                <a:latin typeface="Gilda Display"/>
                <a:ea typeface="Gilda Display"/>
              </a:rPr>
              <a:t>Sign language recognition that runs on any CPU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58720" y="1380960"/>
            <a:ext cx="110736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ISHARA bypasses end-to-end video neural nets by decoupling spatial landmark detection from lightweight temporal classification, delivering real-time predictions without GPUs or cloud calls.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736560" y="2210400"/>
            <a:ext cx="24127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400" b="0" u="none" spc="-68" strike="noStrike">
                <a:solidFill>
                  <a:srgbClr val="9A3824"/>
                </a:solidFill>
                <a:effectLst/>
                <a:uFillTx/>
                <a:latin typeface="Gilda Display"/>
                <a:ea typeface="Gilda Display"/>
              </a:rPr>
              <a:t>0 MB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736560" y="2743920"/>
            <a:ext cx="24127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Zero Cloud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736560" y="3166920"/>
            <a:ext cx="241272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Runs 100% locally. Raw video frames never leave the device memory, guaranteeing complete user privacy.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3504960" y="2210400"/>
            <a:ext cx="24127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400" b="0" u="none" spc="-68" strike="noStrike">
                <a:solidFill>
                  <a:srgbClr val="9A3824"/>
                </a:solidFill>
                <a:effectLst/>
                <a:uFillTx/>
                <a:latin typeface="Gilda Display"/>
                <a:ea typeface="Gilda Display"/>
              </a:rPr>
              <a:t>30 FPS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3504960" y="2743920"/>
            <a:ext cx="24127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Commodity CPU Speed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3504960" y="3166920"/>
            <a:ext cx="241272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Maintains 20–30 FPS on standard dual-core laptop CPUs and 8–12 FPS on a 5W Raspberry Pi 4.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6273720" y="2210400"/>
            <a:ext cx="24127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400" b="0" u="none" spc="-68" strike="noStrike">
                <a:solidFill>
                  <a:srgbClr val="9A3824"/>
                </a:solidFill>
                <a:effectLst/>
                <a:uFillTx/>
                <a:latin typeface="Gilda Display"/>
                <a:ea typeface="Gilda Display"/>
              </a:rPr>
              <a:t>&lt;500 KB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6273720" y="2743920"/>
            <a:ext cx="24127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Tiny Footprint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6273720" y="3166920"/>
            <a:ext cx="2412720" cy="9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Classifier sizes range between 150 KB and 450 KB, easily fitting into basic microcontrollers or legacy phones.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9042120" y="2210400"/>
            <a:ext cx="24127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400" b="0" u="none" spc="-68" strike="noStrike">
                <a:solidFill>
                  <a:srgbClr val="9A3824"/>
                </a:solidFill>
                <a:effectLst/>
                <a:uFillTx/>
                <a:latin typeface="Gilda Display"/>
                <a:ea typeface="Gilda Display"/>
              </a:rPr>
              <a:t>300+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9042120" y="2743920"/>
            <a:ext cx="24127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Multilingual Core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9042120" y="3166920"/>
            <a:ext cx="2412720" cy="9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Trained primarily on Bengali Sign Language (BdSL) and validated on ASL by simply swapping dataset arrays.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558720" y="5713200"/>
            <a:ext cx="116326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pc="51" strike="noStrike">
                <a:solidFill>
                  <a:srgbClr val="3D5550"/>
                </a:solidFill>
                <a:effectLst/>
                <a:uFillTx/>
                <a:latin typeface="Reddit Mono"/>
                <a:ea typeface="Reddit Mono"/>
              </a:rPr>
              <a:t>Output pipeline emits predicted text labels paired with calibrated probability confidence scores in real 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558720" y="6118920"/>
            <a:ext cx="352296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704880" y="6205320"/>
            <a:ext cx="38404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03 · THE ON-DEVICE PARADIGM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8"/>
          <p:cNvSpPr/>
          <p:nvPr/>
        </p:nvSpPr>
        <p:spPr>
          <a:xfrm>
            <a:off x="3321000" y="2037240"/>
            <a:ext cx="12240" cy="22388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6089400" y="2037240"/>
            <a:ext cx="12240" cy="22388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0"/>
          <p:cNvSpPr/>
          <p:nvPr/>
        </p:nvSpPr>
        <p:spPr>
          <a:xfrm>
            <a:off x="8858160" y="2037240"/>
            <a:ext cx="12240" cy="22388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558720" y="384840"/>
            <a:ext cx="11632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ENGINEERING GOALS &amp; ARCHITECTURAL REALIZATION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558720" y="648360"/>
            <a:ext cx="11073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800" b="0" u="none" spc="-37" strike="noStrike">
                <a:solidFill>
                  <a:srgbClr val="112F2C"/>
                </a:solidFill>
                <a:effectLst/>
                <a:uFillTx/>
                <a:latin typeface="Gilda Display"/>
                <a:ea typeface="Gilda Display"/>
              </a:rPr>
              <a:t>Objectives and the proposed solution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558720" y="127944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558720" y="1602000"/>
            <a:ext cx="25394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558720" y="1724400"/>
            <a:ext cx="25394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Competitive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558720" y="2147400"/>
            <a:ext cx="253944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2F2C"/>
                </a:solidFill>
                <a:effectLst/>
                <a:uFillTx/>
                <a:latin typeface="Ancizar Sans Bold"/>
                <a:ea typeface="Ancizar Sans Bold"/>
              </a:rPr>
              <a:t>Objective 1:</a:t>
            </a: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 reach competitive accuracy with a model under 500 KB.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3556080" y="127944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3556080" y="1602000"/>
            <a:ext cx="23108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3556080" y="1724400"/>
            <a:ext cx="2310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Private, real-time CPU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3556080" y="2147400"/>
            <a:ext cx="231084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2F2C"/>
                </a:solidFill>
                <a:effectLst/>
                <a:uFillTx/>
                <a:latin typeface="Ancizar Sans Bold"/>
                <a:ea typeface="Ancizar Sans Bold"/>
              </a:rPr>
              <a:t>Objective 2:</a:t>
            </a: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 real-time, CPU-only, fully private, on-device.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6324480" y="127944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6324480" y="1602000"/>
            <a:ext cx="23108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6324480" y="1724400"/>
            <a:ext cx="2310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Any sign language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6324480" y="2147400"/>
            <a:ext cx="2310840" cy="11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2F2C"/>
                </a:solidFill>
                <a:effectLst/>
                <a:uFillTx/>
                <a:latin typeface="Ancizar Sans Bold"/>
                <a:ea typeface="Ancizar Sans Bold"/>
              </a:rPr>
              <a:t>Objective 3:</a:t>
            </a: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 one framework for any sign language: swap the data, retrain the same code.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9092880" y="127944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9092880" y="1602000"/>
            <a:ext cx="25394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9092880" y="1724400"/>
            <a:ext cx="25394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Rigorous evaluation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9092880" y="2147400"/>
            <a:ext cx="253944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2F2C"/>
                </a:solidFill>
                <a:effectLst/>
                <a:uFillTx/>
                <a:latin typeface="Ancizar Sans Bold"/>
                <a:ea typeface="Ancizar Sans Bold"/>
              </a:rPr>
              <a:t>Objective 4:</a:t>
            </a: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 rigorous, honest evaluation across sessions, signers and languages.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558720" y="3510000"/>
            <a:ext cx="1107360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2F2C"/>
                </a:solidFill>
                <a:effectLst/>
                <a:uFillTx/>
                <a:latin typeface="Ancizar Sans Bold"/>
                <a:ea typeface="Ancizar Sans Bold"/>
              </a:rPr>
              <a:t>Solution:</a:t>
            </a: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 MediaPipe landmarks, then hand-crafted features, then a Logistic Regression (150 KB, 0.5 ms) or 2-layer MLP (200 KB, 5 ms) classifier.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9"/>
          <p:cNvSpPr/>
          <p:nvPr/>
        </p:nvSpPr>
        <p:spPr>
          <a:xfrm>
            <a:off x="558720" y="6144480"/>
            <a:ext cx="451044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704880" y="6230880"/>
            <a:ext cx="48279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04 · OBJECTIVE TO ARCHITECTURE MAPPING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1"/>
          <p:cNvSpPr/>
          <p:nvPr/>
        </p:nvSpPr>
        <p:spPr>
          <a:xfrm>
            <a:off x="3321000" y="1279440"/>
            <a:ext cx="12240" cy="2046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6089400" y="1279440"/>
            <a:ext cx="12240" cy="2046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8858160" y="1279440"/>
            <a:ext cx="12240" cy="2046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406440" y="131040"/>
            <a:ext cx="5282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FEATURE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406440" y="377280"/>
            <a:ext cx="487620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Video to text in three stages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06440" y="910440"/>
            <a:ext cx="48762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From standard camera frames to deterministic classification without neural video processing: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06440" y="156672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696960" y="165564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1230480" y="151776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MediaPipe Tracking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230480" y="1941120"/>
            <a:ext cx="405216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MediaPipe tracks 2 hands (21 points each, x, y, z) plus 11 upper-body pose points from 30 FPS video.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406440" y="292752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696960" y="301608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1230480" y="287856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Geometric Normalization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1230480" y="3301560"/>
            <a:ext cx="405216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Normalize to wrist origin, resample to 30 frames, augment with rotation and scale, and vectorize to 144D per frame.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406440" y="428796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696960" y="437688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1230480" y="423936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Lightweight Classifier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1230480" y="4662360"/>
            <a:ext cx="405216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Logistic Regression or MLP on 4,320D input (30 x 144); under 1 ms for LR.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406440" y="564876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696960" y="573768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1230480" y="559980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Output &amp; State Machine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1230480" y="6023160"/>
            <a:ext cx="405216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Output text and confidence. The idle, signing, commit state machine commits one word per sign and ignores short flickers.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1"/>
          <a:stretch/>
        </p:blipFill>
        <p:spPr>
          <a:xfrm>
            <a:off x="5994360" y="254160"/>
            <a:ext cx="5892120" cy="482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9"/>
          <p:cNvSpPr/>
          <p:nvPr/>
        </p:nvSpPr>
        <p:spPr>
          <a:xfrm>
            <a:off x="5994360" y="5267520"/>
            <a:ext cx="58921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pc="51" strike="noStrike">
                <a:solidFill>
                  <a:srgbClr val="3D5550"/>
                </a:solidFill>
                <a:effectLst/>
                <a:uFillTx/>
                <a:latin typeface="Reddit Mono"/>
                <a:ea typeface="Reddit Mono"/>
              </a:rPr>
              <a:t>Chart: feature vector composition — Left Hand 63D (43.8%), Right Hand 63D (43.8%), Pose 18D (12.5%), total 144D per frame; 4,320 dimensions per 30-frame sequence.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5994360" y="6118920"/>
            <a:ext cx="406152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6140160" y="6205320"/>
            <a:ext cx="4379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05 · VECTOR COMPOSITION BREAKDOWN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406440" y="2642040"/>
            <a:ext cx="48762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406440" y="4002480"/>
            <a:ext cx="48762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406440" y="5363280"/>
            <a:ext cx="48762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06440" y="359640"/>
            <a:ext cx="5282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CONSENTED DATASET CORPUS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06440" y="605880"/>
            <a:ext cx="487620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Training data: 2,646 consented samples, perfectly balanced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406440" y="1526400"/>
            <a:ext cx="48762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Built to evaluate cross-session invariance and prevent temporal data leakage.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406440" y="218268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696960" y="227124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1230480" y="213372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21 Distinct Classes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230480" y="2557080"/>
            <a:ext cx="405216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20 everyday signs (hello, thankyou, help, water, doctor, hospital, school, family and more) plus an _other class.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406440" y="354348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696960" y="363204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1230480" y="349452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Balanced Sessions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1230480" y="3917520"/>
            <a:ext cx="4052160" cy="9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126 samples per class, max/min ratio 1.0. Across 6 sessions, Signer A and Signer B recorded 3 sessions each on different days, lighting, angles and backgrounds. Each sample is a (30, 144) array at 30 FPS.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406440" y="538272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696960" y="547128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1230480" y="5333760"/>
            <a:ext cx="40521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Consent &amp; Cross-Validation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1230480" y="5757120"/>
            <a:ext cx="405216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Every signer gave explicit written consent for training and evaluation use. Session-held-out 6-fold cross-validation prevents temporal leakage.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5994360" y="254160"/>
            <a:ext cx="5892120" cy="52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5"/>
          <p:cNvSpPr/>
          <p:nvPr/>
        </p:nvSpPr>
        <p:spPr>
          <a:xfrm>
            <a:off x="5994360" y="5643000"/>
            <a:ext cx="58921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pc="51" strike="noStrike">
                <a:solidFill>
                  <a:srgbClr val="3D5550"/>
                </a:solidFill>
                <a:effectLst/>
                <a:uFillTx/>
                <a:latin typeface="Reddit Mono"/>
                <a:ea typeface="Reddit Mono"/>
              </a:rPr>
              <a:t>Confusion matrix: a clean diagonal, each session is recognized as itself.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5994360" y="6271200"/>
            <a:ext cx="388188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6140160" y="6357600"/>
            <a:ext cx="4199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06 · EMPIRICAL CONFUSION MATRIX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406440" y="3258000"/>
            <a:ext cx="48762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9"/>
          <p:cNvSpPr/>
          <p:nvPr/>
        </p:nvSpPr>
        <p:spPr>
          <a:xfrm>
            <a:off x="406440" y="5097240"/>
            <a:ext cx="48762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06440" y="259920"/>
            <a:ext cx="117849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6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BENCHMARK EVALUATION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06440" y="430200"/>
            <a:ext cx="1137852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Competitive accuracy at a fraction of the size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406440" y="811080"/>
            <a:ext cx="1178496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7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Within 2-3% of state of the art, about 33x smaller and faster.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406440" y="1079640"/>
            <a:ext cx="406152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552600" y="1166040"/>
            <a:ext cx="4379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07 · EFFICIENCY TRADEOFF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0" descr="preencoded.png"/>
          <p:cNvPicPr/>
          <p:nvPr/>
        </p:nvPicPr>
        <p:blipFill>
          <a:blip r:embed="rId1"/>
          <a:stretch/>
        </p:blipFill>
        <p:spPr>
          <a:xfrm>
            <a:off x="457200" y="1566000"/>
            <a:ext cx="5511240" cy="34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6222960" y="1566000"/>
            <a:ext cx="551124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5"/>
          <p:cNvSpPr/>
          <p:nvPr/>
        </p:nvSpPr>
        <p:spPr>
          <a:xfrm>
            <a:off x="101520" y="5210640"/>
            <a:ext cx="119880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pc="40" strike="noStrike">
                <a:solidFill>
                  <a:srgbClr val="3D5550"/>
                </a:solidFill>
                <a:effectLst/>
                <a:uFillTx/>
                <a:latin typeface="Reddit Mono"/>
                <a:ea typeface="Reddit Mono"/>
              </a:rPr>
              <a:t>Benchmarking accuracy versus memory footprint across synthetic validation sets and public corpora.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558720" y="557604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849600" y="56649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1383120" y="5558400"/>
            <a:ext cx="1715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Ishara LR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1383120" y="5856480"/>
            <a:ext cx="17154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7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92.7% on 21 classes · 150 KB · under 1 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3403440" y="557604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3694320" y="56649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4227840" y="5558400"/>
            <a:ext cx="1715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Ishara MLP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4227840" y="5856480"/>
            <a:ext cx="171540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7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100% on 21 classes (200 KB, 5 ms); 93.8% on BdSLW60's 60 classes (450 KB, 8 ms)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6248160" y="557604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6539040" y="56649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7072560" y="5558400"/>
            <a:ext cx="1715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WLASL (ASL)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7072560" y="5856480"/>
            <a:ext cx="17154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7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87.3% on 100 classes (600 KB, 12 ms)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9092880" y="557604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9383760" y="56649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9917280" y="5558400"/>
            <a:ext cx="17154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Published CNN-LSTM and ViT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9917280" y="6069600"/>
            <a:ext cx="171540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7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CNN-LSTM: 94.2% at 15 MB and 25 ms; ViT: 96.1% at 50+ MB and 40 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3244680" y="5456880"/>
            <a:ext cx="12240" cy="11977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6089400" y="5456880"/>
            <a:ext cx="12240" cy="11977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8934120" y="5456880"/>
            <a:ext cx="12240" cy="11977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06440" y="359640"/>
            <a:ext cx="5689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FOUR PILLARS OF INNOVATION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06440" y="605880"/>
            <a:ext cx="528264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Lightweight, multilingual, rigorous, ethical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406440" y="157716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696960" y="166572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230480" y="1528200"/>
            <a:ext cx="44586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Lightweight over deep learning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1230480" y="1951200"/>
            <a:ext cx="44586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150 KB vs 15 MB, under 1 ms vs 25 ms, 93.8% vs 94.2%.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406440" y="269820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696960" y="278712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1230480" y="2649600"/>
            <a:ext cx="44586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Multilingual by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1230480" y="3072600"/>
            <a:ext cx="44586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BdSL, ASL and more with the same code and a one-line data path change.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406440" y="405900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696960" y="414792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1230480" y="4010400"/>
            <a:ext cx="44586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Rigorous evaluation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1230480" y="4433400"/>
            <a:ext cx="44586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Session-held-out CV, cross-signer test (87.5% on a new signer), false word rate under 1% on 3 minutes of idle video.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406440" y="5419800"/>
            <a:ext cx="79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696960" y="5508360"/>
            <a:ext cx="406080" cy="612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1230480" y="5370840"/>
            <a:ext cx="44586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Ethical accessibility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1230480" y="5794200"/>
            <a:ext cx="445860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On-device privacy, consent-based data, transparent limitations; 8/8 tests pass, fixed seeds.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5689080" y="254160"/>
            <a:ext cx="6197760" cy="599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8"/>
          <p:cNvSpPr/>
          <p:nvPr/>
        </p:nvSpPr>
        <p:spPr>
          <a:xfrm>
            <a:off x="6400800" y="5643000"/>
            <a:ext cx="54860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pc="51" strike="noStrike">
                <a:solidFill>
                  <a:srgbClr val="3D5550"/>
                </a:solidFill>
                <a:effectLst/>
                <a:uFillTx/>
                <a:latin typeface="Reddit Mono"/>
                <a:ea typeface="Reddit Mono"/>
              </a:rPr>
              <a:t>Generalization: 92.7% same signer, 87.5% new signer, 87.3% cross-language (BdSL to ASL).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6400800" y="6271200"/>
            <a:ext cx="397188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6546600" y="6357600"/>
            <a:ext cx="4289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08 · ROBUSTNESS &amp; GENERALIZATION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558720" y="384840"/>
            <a:ext cx="11632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ROADMAP, STACK &amp; FUTURE DIRECTIONS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58720" y="648360"/>
            <a:ext cx="11073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800" b="0" u="none" spc="-37" strike="noStrike">
                <a:solidFill>
                  <a:srgbClr val="112F2C"/>
                </a:solidFill>
                <a:effectLst/>
                <a:uFillTx/>
                <a:latin typeface="Gilda Display"/>
                <a:ea typeface="Gilda Display"/>
              </a:rPr>
              <a:t>Technologies, impact and what comes next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558720" y="135540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01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558720" y="1677960"/>
            <a:ext cx="53078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558720" y="1775160"/>
            <a:ext cx="530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Technology Stack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558720" y="2198160"/>
            <a:ext cx="530820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Python 3.10+, MediaPipe Tasks API, scikit-learn (LR, MLP, Random Forest), NumPy, pytest; datasets BdSLW60 and WLASL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6324480" y="135540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6324480" y="1677960"/>
            <a:ext cx="53078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6324480" y="1775160"/>
            <a:ext cx="530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Hardware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6324480" y="2198160"/>
            <a:ext cx="530820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laptop i5 25-30 FPS, Raspberry Pi 4 8-12 FPS at about 5W, phone CPU 15-20 FPS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558720" y="324468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03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558720" y="3567240"/>
            <a:ext cx="53078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558720" y="3664080"/>
            <a:ext cx="530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Impact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558720" y="4087080"/>
            <a:ext cx="530820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accessible communication, learning tools for sign learners, live captioning, private by default, extensible to 300+ sign languages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6324480" y="3244680"/>
            <a:ext cx="86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A3824"/>
                </a:solidFill>
                <a:effectLst/>
                <a:uFillTx/>
                <a:latin typeface="Ancizar Sans Medium"/>
                <a:ea typeface="Ancizar Sans Medium"/>
              </a:rPr>
              <a:t>04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6324480" y="3567240"/>
            <a:ext cx="5307840" cy="18720"/>
          </a:xfrm>
          <a:prstGeom prst="rect">
            <a:avLst/>
          </a:prstGeom>
          <a:solidFill>
            <a:srgbClr val="F48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6324480" y="3664080"/>
            <a:ext cx="530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2F2C"/>
                </a:solidFill>
                <a:effectLst/>
                <a:uFillTx/>
                <a:latin typeface="Ancizar Sans SemiBold"/>
                <a:ea typeface="Ancizar Sans SemiBold"/>
              </a:rPr>
              <a:t>Honest limits &amp; future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6324480" y="4087080"/>
            <a:ext cx="5308200" cy="11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2F2C"/>
                </a:solidFill>
                <a:effectLst/>
                <a:uFillTx/>
                <a:latin typeface="Ancizar Sans"/>
                <a:ea typeface="Ancizar Sans"/>
              </a:rPr>
              <a:t>main evaluation used synthetic data and 2 signers, so real-data validation is next. Future: 100+ sign vocabulary, per-user fine-tuning, sentence-level context, sign-to-text sentences, diverse signers and outdoor 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558720" y="5515920"/>
            <a:ext cx="110736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pc="51" strike="noStrike">
                <a:solidFill>
                  <a:srgbClr val="3D5550"/>
                </a:solidFill>
                <a:effectLst/>
                <a:uFillTx/>
                <a:latin typeface="Reddit Mono"/>
                <a:ea typeface="Reddit Mono"/>
              </a:rPr>
              <a:t>Transparent engineering: acknowledging synthetic evaluation constraints while charting a pathway to continuous sentence-level recognition.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558720" y="6144480"/>
            <a:ext cx="3971880" cy="332280"/>
          </a:xfrm>
          <a:prstGeom prst="rect">
            <a:avLst/>
          </a:prstGeom>
          <a:noFill/>
          <a:ln w="6350">
            <a:solidFill>
              <a:srgbClr val="112F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704880" y="6230880"/>
            <a:ext cx="4289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88" strike="noStrike">
                <a:solidFill>
                  <a:srgbClr val="112F2C"/>
                </a:solidFill>
                <a:effectLst/>
                <a:uFillTx/>
                <a:latin typeface="Reddit Mono Medium"/>
                <a:ea typeface="Reddit Mono Medium"/>
              </a:rPr>
              <a:t>SPECIMEN 09 · DEPLOYMENT MATRIX &amp; ROADMAP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6089400" y="1355400"/>
            <a:ext cx="12240" cy="165996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558720" y="3009600"/>
            <a:ext cx="55368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3"/>
          <p:cNvSpPr/>
          <p:nvPr/>
        </p:nvSpPr>
        <p:spPr>
          <a:xfrm>
            <a:off x="6089400" y="3016080"/>
            <a:ext cx="12240" cy="224928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6095880" y="3009600"/>
            <a:ext cx="5536800" cy="12240"/>
          </a:xfrm>
          <a:prstGeom prst="rect">
            <a:avLst/>
          </a:prstGeom>
          <a:solidFill>
            <a:srgbClr val="4A5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BE6A0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2026-10-20T08:11:02Z</dcterms:created>
  <dc:creator/>
  <dc:description/>
  <dc:language>en-US</dc:language>
  <cp:lastModifiedBy/>
  <dcterms:modified xsi:type="dcterms:W3CDTF">2026-10-20T08:12:56Z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